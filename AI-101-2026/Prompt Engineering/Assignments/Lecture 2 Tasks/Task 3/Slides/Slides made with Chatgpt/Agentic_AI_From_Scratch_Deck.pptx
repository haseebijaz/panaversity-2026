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title slide frames the lecture as a practical introduction to agentic AI.
Students should leave with a mental model of how an agent moves from goal to tested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route map.
The deck first explains AI, then shows the evolution to agentic AI, then turns that into a reusable problem-solving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microwave example makes AI concrete.
AI is not magic: it takes input, checks context, matches patterns, makes a decision, and produces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defines AI in operational terms that students can use.
The model is only one part of the system. Instructions, tools and evaluation also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lecture explains that predictive and generative AI are still important.
Agentic AI is the next layer because it uses planning, tools and self-correction around generative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Predictive AI is the classic machine learning era.
The output is usually a class, probability or forecast, not a full project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Generative AI is powerful, but often works like a smart tool.
The human still coordinates the larger workflow unless an agentic layer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core mental model: goal to delivered outcome.
The landing page example comes from the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lecture highlights planning, tool use and self-correction.
Context and memory are added because later parts of the transcript discuss company memory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converts a transcript example into a clear comparison.
The main lesson: agentic AI can connect data, actions, tracking and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important ideas in the lecture.
Prompting remains useful, but the higher-value skill is designing workers and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transcript distinguishes agent factory from AI-native company.
Agent factory is the creation process; AI workers are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company-level model from the lecture.
The best framing for students is leverage, not fear.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reusable framework students can apply to any real-world task.
It turns the lecture into a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students a practical checklist.
It prevents vague agent design and helps them prepare assignments.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transcript touches on whether there will be one or many workers.
The principle is practical: split work when specialization helps.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captures the late Q&amp;A in the transcript.
Read/write access should be separated, with approvals before official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transcript ends with assignments and the need to keep learning rather than wasting time.
This slide gives a clear homework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01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5F7FA"/>
                </a:solidFill>
              </a:rPr>
              <a:t>Introduction to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5F7FA"/>
                </a:solidFill>
              </a:rPr>
              <a:t>General Agent Problem Solving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26060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A beginner-friendly slide deck for students learning Agentic AI from scratch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3232" y="3246120"/>
            <a:ext cx="3474720" cy="411480"/>
          </a:xfrm>
          <a:prstGeom prst="rect">
            <a:avLst/>
          </a:prstGeom>
          <a:solidFill>
            <a:srgbClr val="27D8FF">
              <a:alpha val="80000"/>
            </a:srgbClr>
          </a:solidFill>
          <a:ln>
            <a:solidFill>
              <a:srgbClr val="27D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</a:rPr>
              <a:t>Predictive → Generative → Agentic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3246120"/>
            <a:ext cx="1920240" cy="411480"/>
          </a:xfrm>
          <a:prstGeom prst="rect">
            <a:avLst/>
          </a:prstGeom>
          <a:solidFill>
            <a:srgbClr val="33E6A5">
              <a:alpha val="80000"/>
            </a:srgbClr>
          </a:solidFill>
          <a:ln>
            <a:solidFill>
              <a:srgbClr val="33E6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</a:rPr>
              <a:t>AI as a Worker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37960" y="3246120"/>
            <a:ext cx="2240280" cy="411480"/>
          </a:xfrm>
          <a:prstGeom prst="rect">
            <a:avLst/>
          </a:prstGeom>
          <a:solidFill>
            <a:srgbClr val="FF4DB8">
              <a:alpha val="80000"/>
            </a:srgbClr>
          </a:solidFill>
          <a:ln>
            <a:solidFill>
              <a:srgbClr val="FF4D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</a:rPr>
              <a:t>Human-in-the-Loop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5440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Goal: understand how agents solve problems end-to-end, not just answer prompts.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58978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9BD"/>
                </a:solidFill>
              </a:rPr>
              <a:t>Source: attached transcript, “01 Introduction to General Agent Problem Solving”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098280" y="1143000"/>
            <a:ext cx="2331720" cy="640080"/>
          </a:xfrm>
          <a:prstGeom prst="rect">
            <a:avLst/>
          </a:prstGeom>
          <a:solidFill>
            <a:srgbClr val="182A3C"/>
          </a:solidFill>
          <a:ln>
            <a:solidFill>
              <a:srgbClr val="FFD166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GOAL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Define the outcome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98280" y="2029968"/>
            <a:ext cx="2331720" cy="640080"/>
          </a:xfrm>
          <a:prstGeom prst="rect">
            <a:avLst/>
          </a:prstGeom>
          <a:solidFill>
            <a:srgbClr val="182A3C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PLAN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Break it into steps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098280" y="2907792"/>
            <a:ext cx="2331720" cy="640080"/>
          </a:xfrm>
          <a:prstGeom prst="rect">
            <a:avLst/>
          </a:prstGeom>
          <a:solidFill>
            <a:srgbClr val="182A3C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ACT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Use tools +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98280" y="3794760"/>
            <a:ext cx="2331720" cy="640080"/>
          </a:xfrm>
          <a:prstGeom prst="rect">
            <a:avLst/>
          </a:prstGeom>
          <a:solidFill>
            <a:srgbClr val="182A3C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CHECK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Test and improve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will learn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A simple pathway from basic AI to general agent problem solving.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solidFill>
            <a:srgbClr val="27D8FF">
              <a:alpha val="92000"/>
            </a:srgbClr>
          </a:solidFill>
          <a:ln>
            <a:solidFill>
              <a:srgbClr val="27D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1691640" cy="182880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</a:rPr>
              <a:t>AI basics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How machines make decisions from inputs and data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48840" y="1920240"/>
            <a:ext cx="484632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971800" y="1600200"/>
            <a:ext cx="502920" cy="502920"/>
          </a:xfrm>
          <a:prstGeom prst="rect">
            <a:avLst/>
          </a:prstGeom>
          <a:solidFill>
            <a:srgbClr val="33E6A5">
              <a:alpha val="92000"/>
            </a:srgbClr>
          </a:solidFill>
          <a:ln>
            <a:solidFill>
              <a:srgbClr val="33E6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0" y="2331720"/>
            <a:ext cx="1691640" cy="182880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</a:rPr>
              <a:t>Three AI levels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Predictive, Generative, and Agentic AI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484632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212080" y="1600200"/>
            <a:ext cx="502920" cy="502920"/>
          </a:xfrm>
          <a:prstGeom prst="rect">
            <a:avLst/>
          </a:prstGeom>
          <a:solidFill>
            <a:srgbClr val="FF4DB8">
              <a:alpha val="92000"/>
            </a:srgbClr>
          </a:solidFill>
          <a:ln>
            <a:solidFill>
              <a:srgbClr val="FF4D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83480" y="2331720"/>
            <a:ext cx="1691640" cy="182880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</a:rPr>
              <a:t>Agentic loop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Plan, use tools, test, self-correct, deliver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1920240"/>
            <a:ext cx="484632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52360" y="1600200"/>
            <a:ext cx="502920" cy="502920"/>
          </a:xfrm>
          <a:prstGeom prst="rect">
            <a:avLst/>
          </a:prstGeom>
          <a:solidFill>
            <a:srgbClr val="8C62FF">
              <a:alpha val="92000"/>
            </a:srgbClr>
          </a:solidFill>
          <a:ln>
            <a:solidFill>
              <a:srgbClr val="8C62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23760" y="2331720"/>
            <a:ext cx="1691640" cy="1828800"/>
          </a:xfrm>
          <a:prstGeom prst="rect">
            <a:avLst/>
          </a:prstGeom>
          <a:solidFill>
            <a:srgbClr val="102033"/>
          </a:solidFill>
          <a:ln>
            <a:solidFill>
              <a:srgbClr val="8C62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</a:rPr>
              <a:t>AI workers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From AI as a tool to AI as a worker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9680" y="1920240"/>
            <a:ext cx="484632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692640" y="1600200"/>
            <a:ext cx="502920" cy="502920"/>
          </a:xfrm>
          <a:prstGeom prst="rect">
            <a:avLst/>
          </a:prstGeom>
          <a:solidFill>
            <a:srgbClr val="FFD166">
              <a:alpha val="92000"/>
            </a:srgbClr>
          </a:solidFill>
          <a:ln>
            <a:solidFill>
              <a:srgbClr val="FFD16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64040" y="2331720"/>
            <a:ext cx="1691640" cy="1828800"/>
          </a:xfrm>
          <a:prstGeom prst="rect">
            <a:avLst/>
          </a:prstGeom>
          <a:solidFill>
            <a:srgbClr val="102033"/>
          </a:solidFill>
          <a:ln>
            <a:solidFill>
              <a:srgbClr val="FFD166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</a:rPr>
              <a:t>Safe execution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Human approvals, guardrails, and access control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Student mindset: do not memorize tools. Learn the problem-solving pattern, then apply it to your own domain.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Basics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 starts with decisions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The transcript uses a microwave example to explain ordinary decisions vs AI-powered decisions.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3200400" cy="182880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Human decision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You check if the food is frozen, estimate the time, then set the microwave manually.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69080" y="2423160"/>
            <a:ext cx="91440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212080" y="1508760"/>
            <a:ext cx="3291840" cy="182880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AI-powered decision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A smart microwave senses temperature, compares it with learned rules, and sets heating time itself.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41080" y="2423160"/>
            <a:ext cx="73152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555480" y="1508760"/>
            <a:ext cx="1828800" cy="182880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</a:rPr>
              <a:t>Key idea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8C5D6"/>
                </a:solidFill>
              </a:rPr>
              <a:t>AI is software that can use data and patterns to make or support decisions.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8872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D8FF"/>
                </a:solidFill>
              </a:rPr>
              <a:t>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920240" y="41422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</a:rPr>
              <a:t>Input: food or task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E6A5"/>
                </a:solidFill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389120" y="41422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</a:rPr>
              <a:t>Measure/observe context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DB8"/>
                </a:solidFill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086600" y="41422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</a:rPr>
              <a:t>Choose an 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154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166"/>
                </a:solidFill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646920" y="41422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</a:rPr>
              <a:t>Produce an output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Basics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beginner definition of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Artificial Intelligence = trained software that recognizes patterns and helps make decisions.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057400" cy="109728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Input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text, image, data, request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34640" y="2377440"/>
            <a:ext cx="566928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520440" y="1828800"/>
            <a:ext cx="2057400" cy="1097280"/>
          </a:xfrm>
          <a:prstGeom prst="rect">
            <a:avLst/>
          </a:prstGeom>
          <a:solidFill>
            <a:srgbClr val="102033"/>
          </a:solidFill>
          <a:ln>
            <a:solidFill>
              <a:srgbClr val="8C62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Model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trained on examples and rules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23560" y="2377440"/>
            <a:ext cx="566928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2057400" cy="109728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Decision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classification, prediction, or generation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0" y="2377440"/>
            <a:ext cx="566928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098280" y="1828800"/>
            <a:ext cx="2057400" cy="1097280"/>
          </a:xfrm>
          <a:prstGeom prst="rect">
            <a:avLst/>
          </a:prstGeom>
          <a:solidFill>
            <a:srgbClr val="102033"/>
          </a:solidFill>
          <a:ln>
            <a:solidFill>
              <a:srgbClr val="FFD166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Output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answer, action, recommendation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4846320" cy="123444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Everyday examples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Google Translate, recommendations, spell-check, YouTube suggestions, ChatGPT/Claude-style assistants.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4069080"/>
            <a:ext cx="4846320" cy="123444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Important limitation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AI behavior depends on training data, instructions, tools, and evaluation. It still needs careful design.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Evolution of AI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 levels discussed in the lecture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Think of AI progress as a staircase: predict → generate → act.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3246120" cy="292608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Level 1: Predictive AI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Answers yes/no or category questions. Example: “Is this a cat?” or “Is this email spam?”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80560" y="1417320"/>
            <a:ext cx="3246120" cy="292608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Level 2: Generative AI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Creates content from prompts. Example: write an email, generate an image, summarize a PDF.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83880" y="1417320"/>
            <a:ext cx="3246120" cy="292608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Level 3: Agentic AI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Takes a goal and executes a workflow: plan, research, build, test, fix, deliver.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50792" y="2880360"/>
            <a:ext cx="393192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54112" y="2880360"/>
            <a:ext cx="393192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097280" y="51389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</a:rPr>
              <a:t>Agentic AI does not replace the earlier levels. It builds on them.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AI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Level 1: Predictive AI classifies inputs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It recognizes patterns and predicts a label or category.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017520" cy="118872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Training examples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Many cat images, many spam emails, many weather records.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86200" y="1965960"/>
            <a:ext cx="82296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892040" y="1371600"/>
            <a:ext cx="3017520" cy="1188720"/>
          </a:xfrm>
          <a:prstGeom prst="rect">
            <a:avLst/>
          </a:prstGeom>
          <a:solidFill>
            <a:srgbClr val="102033"/>
          </a:solidFill>
          <a:ln>
            <a:solidFill>
              <a:srgbClr val="8C62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Pattern learning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The model learns signals that separate one class from another.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0" y="1965960"/>
            <a:ext cx="77724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006840" y="1371600"/>
            <a:ext cx="2468880" cy="118872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Prediction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</a:rPr>
              <a:t>Yes/No or class label: Cat / Not cat, Spam / Not spam.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4389120" cy="114300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Strength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Fast, useful for filtering, forecasting, detection, and classification.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3886200"/>
            <a:ext cx="4389120" cy="1143000"/>
          </a:xfrm>
          <a:prstGeom prst="rect">
            <a:avLst/>
          </a:prstGeom>
          <a:solidFill>
            <a:srgbClr val="102033"/>
          </a:solidFill>
          <a:ln>
            <a:solidFill>
              <a:srgbClr val="FF5A5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Limit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It usually does not hold a conversation or complete a multi-step workflow by itself.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Level 2: Generative AI creates new content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It can produce text, code, images, summaries, and drafts.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2377440" cy="91440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Prompt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“Write a marketing email for my product.”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37560" y="2011680"/>
            <a:ext cx="77724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343400" y="1554480"/>
            <a:ext cx="2377440" cy="914400"/>
          </a:xfrm>
          <a:prstGeom prst="rect">
            <a:avLst/>
          </a:prstGeom>
          <a:solidFill>
            <a:srgbClr val="102033"/>
          </a:solidFill>
          <a:ln>
            <a:solidFill>
              <a:srgbClr val="8C62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Model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Uses learned patterns from large datasets.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0" y="2011680"/>
            <a:ext cx="77724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863840" y="1554480"/>
            <a:ext cx="2926080" cy="91440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Generated draft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5D6"/>
                </a:solidFill>
              </a:rPr>
              <a:t>Email, report, code, image, or summary.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4389120" cy="114300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Good for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Drafting, brainstorming, rewriting, summarizing, creating first versions.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3931920"/>
            <a:ext cx="4480560" cy="1143000"/>
          </a:xfrm>
          <a:prstGeom prst="rect">
            <a:avLst/>
          </a:prstGeom>
          <a:solidFill>
            <a:srgbClr val="102033"/>
          </a:solidFill>
          <a:ln>
            <a:solidFill>
              <a:srgbClr val="FF9F1C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Not enough for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Owning the full business process: sending, tracking, testing, fixing, and optimizing.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Level 3: Agentic AI executes toward a goal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The agent does not just reply. It manages the steps between goal and outcome.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325880" cy="1325880"/>
          </a:xfrm>
          <a:prstGeom prst="rect">
            <a:avLst/>
          </a:prstGeom>
          <a:solidFill>
            <a:srgbClr val="102033"/>
          </a:solidFill>
          <a:ln>
            <a:solidFill>
              <a:srgbClr val="FFD166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Goal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</a:rPr>
              <a:t>Launch a landing page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56232" y="2542032"/>
            <a:ext cx="246888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148840" y="1874520"/>
            <a:ext cx="1325880" cy="132588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Plan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</a:rPr>
              <a:t>Break into phases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02152" y="2542032"/>
            <a:ext cx="246888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794760" y="1874520"/>
            <a:ext cx="1325880" cy="1325880"/>
          </a:xfrm>
          <a:prstGeom prst="rect">
            <a:avLst/>
          </a:prstGeom>
          <a:solidFill>
            <a:srgbClr val="102033"/>
          </a:solidFill>
          <a:ln>
            <a:solidFill>
              <a:srgbClr val="8C62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Research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</a:rPr>
              <a:t>Find current patterns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48072" y="2542032"/>
            <a:ext cx="246888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440680" y="1874520"/>
            <a:ext cx="1325880" cy="132588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Build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</a:rPr>
              <a:t>Create the page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93992" y="2542032"/>
            <a:ext cx="246888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086600" y="1874520"/>
            <a:ext cx="1325880" cy="132588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Test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</a:rPr>
              <a:t>Check errors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39912" y="2542032"/>
            <a:ext cx="246888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732520" y="1874520"/>
            <a:ext cx="1325880" cy="1325880"/>
          </a:xfrm>
          <a:prstGeom prst="rect">
            <a:avLst/>
          </a:prstGeom>
          <a:solidFill>
            <a:srgbClr val="102033"/>
          </a:solidFill>
          <a:ln>
            <a:solidFill>
              <a:srgbClr val="FF9F1C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Fix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</a:rPr>
              <a:t>Self-correct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85832" y="2542032"/>
            <a:ext cx="246888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378440" y="1874520"/>
            <a:ext cx="1325880" cy="132588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Deliver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5D6"/>
                </a:solidFill>
              </a:rPr>
              <a:t>Share result + URL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4754880" cy="105156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Agentic meaning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“Agentic” means the AI can act on a goal through an end-to-end process, using intelligence across multiple steps.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4754880" cy="105156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Core shift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Instead of asking for one output, you assign a goal and expect managed execution.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an AI agentic?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Four capabilities convert a chatbot into an AI worker.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4572000" cy="132588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Planning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8C5D6"/>
                </a:solidFill>
              </a:rPr>
              <a:t>Break a big goal into smaller ordered steps.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508760"/>
            <a:ext cx="4572000" cy="132588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Tool use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8C5D6"/>
                </a:solidFill>
              </a:rPr>
              <a:t>Connect to the outside world: web, files, APIs, databases.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4572000" cy="132588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Self-correction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8C5D6"/>
                </a:solidFill>
              </a:rPr>
              <a:t>Test results, identify failure, fix, and iterate.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3794760"/>
            <a:ext cx="4572000" cy="1325880"/>
          </a:xfrm>
          <a:prstGeom prst="rect">
            <a:avLst/>
          </a:prstGeom>
          <a:solidFill>
            <a:srgbClr val="102033"/>
          </a:solidFill>
          <a:ln>
            <a:solidFill>
              <a:srgbClr val="FFD166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Context / Memory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8C5D6"/>
                </a:solidFill>
              </a:rPr>
              <a:t>Use project data, user preferences, and history responsibly.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562356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Without these capabilities, the system is mainly a smart chat tool, not an agent.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Factory-owner marketing 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Generative AI drafts an email. Agentic AI can run the campaign workflow.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4937760" cy="397764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Generative AI path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1. Ask for an email draft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2. Human edits and sends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3. Human tracks customers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4. Human analyzes product response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5. Human decides next action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46520" y="1417320"/>
            <a:ext cx="4937760" cy="397764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Agentic AI path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1. Read product and customer data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2. Segment customers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3. Draft personalized emails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4. Send or queue with approval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5. Track performance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6. Recommend next moves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580644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</a:rPr>
              <a:t>Difference: output generation vs workflow ownership.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Tool → Worker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big mindset shift: AI as Tool → AI as Worker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A tool helps you do the work. A worker can own a task on your behalf.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4480560" cy="320040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</a:rPr>
              <a:t>AI as a Tool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B8C5D6"/>
                </a:solidFill>
              </a:rPr>
              <a:t>You operate it. You manage the process. You decide every next step. Example: ask ChatGPT to draft slides.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12280" y="1554480"/>
            <a:ext cx="4480560" cy="320040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</a:rPr>
              <a:t>AI as a Worker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B8C5D6"/>
                </a:solidFill>
              </a:rPr>
              <a:t>You assign a task. It plans, uses tools, produces work, checks quality, and reports back. Example: make a polished presentation from a transcript.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40680" y="3108960"/>
            <a:ext cx="1234440" cy="0"/>
          </a:xfrm>
          <a:prstGeom prst="line">
            <a:avLst/>
          </a:prstGeom>
          <a:noFill/>
          <a:ln w="20320">
            <a:solidFill>
              <a:srgbClr val="FFD166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143000" y="55321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</a:rPr>
              <a:t>Students should learn to design work, not just prompts.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Factory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Factory: building specialized AI workers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An agent factory is a process for producing workers for different jobs.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920240" cy="1097280"/>
          </a:xfrm>
          <a:prstGeom prst="rect">
            <a:avLst/>
          </a:prstGeom>
          <a:solidFill>
            <a:srgbClr val="102033"/>
          </a:solidFill>
          <a:ln>
            <a:solidFill>
              <a:srgbClr val="FFD166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Need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</a:rPr>
              <a:t>Real-world problem or repeating task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2103120"/>
            <a:ext cx="59436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611880" y="1554480"/>
            <a:ext cx="2011680" cy="109728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Design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</a:rPr>
              <a:t>Role, task, data, tools, success criteria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15000" y="2103120"/>
            <a:ext cx="59436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492240" y="1554480"/>
            <a:ext cx="2011680" cy="109728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</a:rPr>
              <a:t>Configure model, prompts, memory, tools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95360" y="2103120"/>
            <a:ext cx="59436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372600" y="1554480"/>
            <a:ext cx="2011680" cy="109728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Worker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</a:rPr>
              <a:t>Specialized AI agent ready to perform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977640"/>
            <a:ext cx="9692640" cy="1143000"/>
          </a:xfrm>
          <a:prstGeom prst="rect">
            <a:avLst/>
          </a:prstGeom>
          <a:solidFill>
            <a:srgbClr val="102033"/>
          </a:solidFill>
          <a:ln>
            <a:solidFill>
              <a:srgbClr val="8C62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</a:rPr>
              <a:t>Example workers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B8C5D6"/>
                </a:solidFill>
              </a:rPr>
              <a:t>Research assistant • Sales follow-up worker • Support triage worker • Report-writing worker • QA/testing worker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AI-Native Company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AI-native company: humans lead, AI workers execute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The human role becomes goal-setting, supervision, and judgment.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3017520" cy="1920240"/>
          </a:xfrm>
          <a:prstGeom prst="rect">
            <a:avLst/>
          </a:prstGeom>
          <a:solidFill>
            <a:srgbClr val="102033"/>
          </a:solidFill>
          <a:ln>
            <a:solidFill>
              <a:srgbClr val="FFD166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Human leaders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Set goals, define rules, approve sensitive actions, evaluate outcomes.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3017520" cy="192024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Agent factory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Creates and improves specialized AI workers.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1417320"/>
            <a:ext cx="3017520" cy="192024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AI workers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Handle tasks 24/7: research, writing, tracking, support, analysis.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31920" y="2377440"/>
            <a:ext cx="54864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80960" y="2377440"/>
            <a:ext cx="54864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554480" y="4572000"/>
            <a:ext cx="8961120" cy="91440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Important: replacement is not the main lesson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8C5D6"/>
                </a:solidFill>
              </a:rPr>
              <a:t>The practical lesson is leverage: humans supervise more work by designing better systems.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Problem Solving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 Agent Problem-Solving 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Use this loop for any domain: education, business, software, healthcare, finance, or operations.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49240" y="1371600"/>
            <a:ext cx="1463040" cy="822960"/>
          </a:xfrm>
          <a:prstGeom prst="rect">
            <a:avLst/>
          </a:prstGeom>
          <a:solidFill>
            <a:srgbClr val="102033"/>
          </a:solidFill>
          <a:ln>
            <a:solidFill>
              <a:srgbClr val="FFD166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5F7FA"/>
                </a:solidFill>
              </a:rPr>
              <a:t>1 Goal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C5D6"/>
                </a:solidFill>
              </a:rPr>
              <a:t>Define target outcome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7636941" y="2025734"/>
            <a:ext cx="1463040" cy="82296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5F7FA"/>
                </a:solidFill>
              </a:rPr>
              <a:t>2 Decompose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C5D6"/>
                </a:solidFill>
              </a:rPr>
              <a:t>Break into tasks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201957" y="3495559"/>
            <a:ext cx="1463040" cy="822960"/>
          </a:xfrm>
          <a:prstGeom prst="rect">
            <a:avLst/>
          </a:prstGeom>
          <a:solidFill>
            <a:srgbClr val="102033"/>
          </a:solidFill>
          <a:ln>
            <a:solidFill>
              <a:srgbClr val="8C62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5F7FA"/>
                </a:solidFill>
              </a:rPr>
              <a:t>3 Select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C5D6"/>
                </a:solidFill>
              </a:rPr>
              <a:t>Choose worker + tools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618819" y="4674267"/>
            <a:ext cx="1463040" cy="82296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5F7FA"/>
                </a:solidFill>
              </a:rPr>
              <a:t>4 Execute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C5D6"/>
                </a:solidFill>
              </a:rPr>
              <a:t>Perform actions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079661" y="4674267"/>
            <a:ext cx="1463040" cy="82296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5F7FA"/>
                </a:solidFill>
              </a:rPr>
              <a:t>5 Evaluate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C5D6"/>
                </a:solidFill>
              </a:rPr>
              <a:t>Check against criteria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496523" y="3495559"/>
            <a:ext cx="1463040" cy="822960"/>
          </a:xfrm>
          <a:prstGeom prst="rect">
            <a:avLst/>
          </a:prstGeom>
          <a:solidFill>
            <a:srgbClr val="102033"/>
          </a:solidFill>
          <a:ln>
            <a:solidFill>
              <a:srgbClr val="FF9F1C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5F7FA"/>
                </a:solidFill>
              </a:rPr>
              <a:t>6 Iterate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C5D6"/>
                </a:solidFill>
              </a:rPr>
              <a:t>Fix and improve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061539" y="2025734"/>
            <a:ext cx="1463040" cy="82296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5F7FA"/>
                </a:solidFill>
              </a:rPr>
              <a:t>7 Handoff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B8C5D6"/>
                </a:solidFill>
              </a:rPr>
              <a:t>Report, ask approval, or deploy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230368" y="2926080"/>
            <a:ext cx="1737360" cy="960120"/>
          </a:xfrm>
          <a:prstGeom prst="rect">
            <a:avLst/>
          </a:prstGeom>
          <a:solidFill>
            <a:srgbClr val="1A2B40"/>
          </a:solidFill>
          <a:ln>
            <a:solidFill>
              <a:srgbClr val="37547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F7FA"/>
                </a:solidFill>
              </a:rPr>
              <a:t>AGENT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5F7FA"/>
                </a:solidFill>
              </a:rPr>
              <a:t>LOOP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Design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design an AI worker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Before building an agent, define its job clearly.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331720" cy="114300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Role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</a:rPr>
              <a:t>What kind of worker is it?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417320"/>
            <a:ext cx="2331720" cy="114300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Goal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</a:rPr>
              <a:t>What outcome must it achieve?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1417320"/>
            <a:ext cx="2331720" cy="114300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Inputs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</a:rPr>
              <a:t>What data can it read?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052560" y="1417320"/>
            <a:ext cx="2331720" cy="1143000"/>
          </a:xfrm>
          <a:prstGeom prst="rect">
            <a:avLst/>
          </a:prstGeom>
          <a:solidFill>
            <a:srgbClr val="102033"/>
          </a:solidFill>
          <a:ln>
            <a:solidFill>
              <a:srgbClr val="8C62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Tools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</a:rPr>
              <a:t>What systems can it use?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2331720" cy="1143000"/>
          </a:xfrm>
          <a:prstGeom prst="rect">
            <a:avLst/>
          </a:prstGeom>
          <a:solidFill>
            <a:srgbClr val="102033"/>
          </a:solidFill>
          <a:ln>
            <a:solidFill>
              <a:srgbClr val="FFD166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Memory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</a:rPr>
              <a:t>What should it remember?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3794760"/>
            <a:ext cx="2331720" cy="1143000"/>
          </a:xfrm>
          <a:prstGeom prst="rect">
            <a:avLst/>
          </a:prstGeom>
          <a:solidFill>
            <a:srgbClr val="102033"/>
          </a:solidFill>
          <a:ln>
            <a:solidFill>
              <a:srgbClr val="FF9F1C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Guardrails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</a:rPr>
              <a:t>What is not allowed?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3794760"/>
            <a:ext cx="2331720" cy="1143000"/>
          </a:xfrm>
          <a:prstGeom prst="rect">
            <a:avLst/>
          </a:prstGeom>
          <a:solidFill>
            <a:srgbClr val="102033"/>
          </a:solidFill>
          <a:ln>
            <a:solidFill>
              <a:srgbClr val="FF5A5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</a:rPr>
              <a:t>Quality check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</a:rPr>
              <a:t>How will success be measured?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agent or multiple agents?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Use specialization when the work has different skill types, risks, or quality checks.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3017520" cy="192024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Single agent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Best for simple, contained tasks with one clear objective. Lower coordination cost.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0" y="1508760"/>
            <a:ext cx="3017520" cy="192024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Multi-agent team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Best for complex workflows: research worker, writing worker, QA worker, deployment worker.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1040" y="1508760"/>
            <a:ext cx="3017520" cy="192024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Human supervisor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Reviews sensitive steps, resolves conflicts, approves final output.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931920" y="2468880"/>
            <a:ext cx="54864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80960" y="2468880"/>
            <a:ext cx="54864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371600" y="4617720"/>
            <a:ext cx="9418320" cy="914400"/>
          </a:xfrm>
          <a:prstGeom prst="rect">
            <a:avLst/>
          </a:prstGeom>
          <a:solidFill>
            <a:srgbClr val="102033"/>
          </a:solidFill>
          <a:ln>
            <a:solidFill>
              <a:srgbClr val="FFD166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Rule of thumb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8C5D6"/>
                </a:solidFill>
              </a:rPr>
              <a:t>Do not create many agents just because you can. Split only when specialization improves quality, safety, or speed.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Safety: read access, write access, and approvals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Agentic systems become powerful when they can act, so permissions must be designed carefully.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3108960" cy="146304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Read access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Agent can inspect files, databases, or records to understand context.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26280" y="1325880"/>
            <a:ext cx="3108960" cy="1463040"/>
          </a:xfrm>
          <a:prstGeom prst="rect">
            <a:avLst/>
          </a:prstGeom>
          <a:solidFill>
            <a:srgbClr val="102033"/>
          </a:solidFill>
          <a:ln>
            <a:solidFill>
              <a:srgbClr val="FFD166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Draft write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Agent writes into a safe staging area, not directly into official records.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0" y="1325880"/>
            <a:ext cx="3108960" cy="146304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Human approval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C5D6"/>
                </a:solidFill>
              </a:rPr>
              <a:t>Human reviews, approves, then the change is applied.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977640" y="2057400"/>
            <a:ext cx="50292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80960" y="2057400"/>
            <a:ext cx="502920" cy="0"/>
          </a:xfrm>
          <a:prstGeom prst="line">
            <a:avLst/>
          </a:prstGeom>
          <a:noFill/>
          <a:ln w="20320">
            <a:solidFill>
              <a:srgbClr val="375472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280160" y="4434840"/>
            <a:ext cx="9509760" cy="96012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5F7FA"/>
                </a:solidFill>
              </a:rPr>
              <a:t>Human-in-the-loop principle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B8C5D6"/>
                </a:solidFill>
              </a:rPr>
              <a:t>For risky actions, the agent recommends or drafts; the human authorizes the final write.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Action Plan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next steps after this session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5D6"/>
                </a:solidFill>
              </a:rPr>
              <a:t>Turn the concepts into practice through one small domain project.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3291840" cy="1188720"/>
          </a:xfrm>
          <a:prstGeom prst="rect">
            <a:avLst/>
          </a:prstGeom>
          <a:solidFill>
            <a:srgbClr val="102033"/>
          </a:solidFill>
          <a:ln>
            <a:solidFill>
              <a:srgbClr val="27D8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1. Read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Read the assigned thesis/orientation material carefully.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80560" y="1417320"/>
            <a:ext cx="3291840" cy="1188720"/>
          </a:xfrm>
          <a:prstGeom prst="rect">
            <a:avLst/>
          </a:prstGeom>
          <a:solidFill>
            <a:srgbClr val="102033"/>
          </a:solidFill>
          <a:ln>
            <a:solidFill>
              <a:srgbClr val="33E6A5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2. Map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Pick your own domain and list 3 repetitive workflows.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38160" y="1417320"/>
            <a:ext cx="3291840" cy="1188720"/>
          </a:xfrm>
          <a:prstGeom prst="rect">
            <a:avLst/>
          </a:prstGeom>
          <a:solidFill>
            <a:srgbClr val="102033"/>
          </a:solidFill>
          <a:ln>
            <a:solidFill>
              <a:srgbClr val="FF4DB8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3. Design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Choose one workflow and design an AI worker using the checklist.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5960" y="3977640"/>
            <a:ext cx="3840480" cy="1188720"/>
          </a:xfrm>
          <a:prstGeom prst="rect">
            <a:avLst/>
          </a:prstGeom>
          <a:solidFill>
            <a:srgbClr val="102033"/>
          </a:solidFill>
          <a:ln>
            <a:solidFill>
              <a:srgbClr val="FFD166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4. Share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Share the example with the group: goal, inputs, tools, guardrails, expected output.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3977640"/>
            <a:ext cx="3840480" cy="1188720"/>
          </a:xfrm>
          <a:prstGeom prst="rect">
            <a:avLst/>
          </a:prstGeom>
          <a:solidFill>
            <a:srgbClr val="102033"/>
          </a:solidFill>
          <a:ln>
            <a:solidFill>
              <a:srgbClr val="8C62FF">
                <a:alpha val="8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5. Improve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5D6"/>
                </a:solidFill>
              </a:rPr>
              <a:t>Use feedback to refine the worker before building a real prototype.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897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Remember: the goal is not to learn one tool. The goal is to learn how agents solve problems.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Generated from attached transcript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General Agent Problem Solving</dc:title>
  <dc:subject>Agentic AI from Scratch</dc:subject>
  <dc:creator>OpenAI</dc:creator>
  <cp:lastModifiedBy>OpenAI</cp:lastModifiedBy>
  <cp:revision>1</cp:revision>
  <dcterms:created xsi:type="dcterms:W3CDTF">2026-06-12T13:10:07Z</dcterms:created>
  <dcterms:modified xsi:type="dcterms:W3CDTF">2026-06-12T13:10:07Z</dcterms:modified>
</cp:coreProperties>
</file>